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DE"/>
                </a:solidFill>
                <a:latin typeface="Segoe UI"/>
              </a:rPr>
              <a:t>RESEARCH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LLM as a Multi-Robot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Behavior-Tree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3CDDB"/>
                </a:solidFill>
                <a:latin typeface="Segoe UI"/>
              </a:rPr>
              <a:t>Generating, validating, and simulating synchronized multi-robot behavior trees with a language model as the planner.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4241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F9DB3"/>
                </a:solidFill>
                <a:latin typeface="Segoe UI"/>
              </a:rPr>
              <a:t>Scientific paper  ·  work-in-progress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085"/>
                </a:solidFill>
                <a:latin typeface="Segoe UI"/>
              </a:rPr>
              <a:t>8 / 8 planned milestones closed   ·   prototype → full LLM-driven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486"/>
                </a:solidFill>
                <a:latin typeface="Segoe UI"/>
              </a:rPr>
              <a:t>Status as of 17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WHY THIS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The problem we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41B2E"/>
                </a:solidFill>
                <a:latin typeface="Segoe UI"/>
              </a:rPr>
              <a:t>Coordinating </a:t>
            </a:r>
            <a:r>
              <a:rPr sz="1700" b="1" i="0">
                <a:solidFill>
                  <a:srgbClr val="2E86DE"/>
                </a:solidFill>
                <a:latin typeface="Segoe UI"/>
              </a:rPr>
              <a:t>multiple heterogeneous robots</a:t>
            </a:r>
            <a:r>
              <a:rPr sz="1700" b="0" i="0">
                <a:solidFill>
                  <a:srgbClr val="141B2E"/>
                </a:solidFill>
                <a:latin typeface="Segoe UI"/>
              </a:rPr>
              <a:t> on one task needs a plan: who does what, in what order, and where they must wait for each 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3520440" cy="27432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52044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3520440" cy="228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52344"/>
            <a:ext cx="306324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Classic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55848"/>
            <a:ext cx="306324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Symbolic methods (MRBTP-style back-chaining) synthesize the tree deterministically — powerful, but hand-built and domain-bound.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697480"/>
            <a:ext cx="3520440" cy="27432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697480"/>
            <a:ext cx="3520440" cy="45720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926080"/>
            <a:ext cx="3520440" cy="228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752344"/>
            <a:ext cx="306324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Our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55848"/>
            <a:ext cx="306324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Can an LLM — given only the instruction and the initial world state — infer the entire synchronized multi-robot plan itself?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697480"/>
            <a:ext cx="3520440" cy="27432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2697480"/>
            <a:ext cx="3520440" cy="4572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926080"/>
            <a:ext cx="3520440" cy="228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752344"/>
            <a:ext cx="306324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The catch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55848"/>
            <a:ext cx="306324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No hidden checklist, no fixed ordering, no deterministic repair. The model must discover the causal chains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CORE IDEA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Research stance: the LLM is the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10607040" cy="10515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100584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</a:rPr>
              <a:t>All plan </a:t>
            </a:r>
            <a:r>
              <a:rPr sz="1800" b="1" i="1">
                <a:solidFill>
                  <a:srgbClr val="FFFFFF"/>
                </a:solidFill>
                <a:latin typeface="Segoe UI"/>
              </a:rPr>
              <a:t>structure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 is produced by the language model.  The deterministic code only </a:t>
            </a:r>
            <a:r>
              <a:rPr sz="1800" b="1" i="0">
                <a:solidFill>
                  <a:srgbClr val="16A085"/>
                </a:solidFill>
                <a:latin typeface="Segoe UI"/>
              </a:rPr>
              <a:t>verifies and simulates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 — it never authors or repairs the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10607040" cy="10058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109728" cy="10058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310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Segoe UI"/>
              </a:rPr>
              <a:t>Pure mode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52928"/>
            <a:ext cx="6858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Model sees only: prompt + initial state + output schema. Validator reports WHAT is wrong, never task-specific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07040" cy="10058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886200"/>
            <a:ext cx="109728" cy="10058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95928"/>
            <a:ext cx="310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Segoe UI"/>
              </a:rPr>
              <a:t>Assisted mode (ablation)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95928"/>
            <a:ext cx="6858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Optional dependency hints + candidate-producer suggestions — a baseline to measure how much scaffolding helps.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29200"/>
            <a:ext cx="10607040" cy="10058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029200"/>
            <a:ext cx="109728" cy="10058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38928"/>
            <a:ext cx="3108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Segoe UI"/>
              </a:rPr>
              <a:t>Always-on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138928"/>
            <a:ext cx="68580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1B2E"/>
                </a:solidFill>
                <a:latin typeface="Segoe UI"/>
              </a:rPr>
              <a:t>Acyclicity, capability match, predicate support, sync consistency — task-agnostic verification that defines “working.”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The pipeline (Algorithm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93392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993392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993392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162763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  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1627632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Multi-robot scenario:
init + goal state,
objects, locations,
capability libraries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9260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B7486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1828800"/>
            <a:ext cx="1993392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61488" y="1828800"/>
            <a:ext cx="1993392" cy="566928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88" y="2121408"/>
            <a:ext cx="1993392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1874520"/>
            <a:ext cx="162763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   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560320"/>
            <a:ext cx="1627632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LLM infers task graph,
robot assignments,
synchronization,
per-robot BTs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9260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B7486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1828800"/>
            <a:ext cx="1993392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82896" y="1828800"/>
            <a:ext cx="1993392" cy="566928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82896" y="2121408"/>
            <a:ext cx="1993392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1874520"/>
            <a:ext cx="162763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  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2560320"/>
            <a:ext cx="1627632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Static checks:
structure, capabilities,
predicate support,
sync 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B7486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4304" y="1828800"/>
            <a:ext cx="1993392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04304" y="1828800"/>
            <a:ext cx="1993392" cy="566928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4304" y="2121408"/>
            <a:ext cx="1993392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87184" y="1874520"/>
            <a:ext cx="162763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   Self-correct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2560320"/>
            <a:ext cx="1627632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Typed errors + sim
trace fed back;
LLM patches
(no auto-repair)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9260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B7486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2" y="1828800"/>
            <a:ext cx="1993392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25712" y="1828800"/>
            <a:ext cx="1993392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5712" y="2121408"/>
            <a:ext cx="1993392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1874520"/>
            <a:ext cx="162763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   Simulate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560320"/>
            <a:ext cx="1627632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Tick-based symbolic
BT execution;
deadlock / timeout
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83480"/>
            <a:ext cx="10972800" cy="11430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83480"/>
            <a:ext cx="1042416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Loop 2–5 until the plan validates AND simulates to the goal, or the correction budget is spent → one result file.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A085"/>
                </a:solidFill>
                <a:latin typeface="Segoe UI"/>
              </a:rPr>
              <a:t>Three task-agnostic reliability levers: back-chaining method in the prompt  ·  best-of-N sampling  ·  two-stage generation (action plan → BTs).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DELIVERED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What is built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27048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Declarative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92808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PDDL-style add/delete capability effects — world semantics live in the data, not hidden engine conventions.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109728" cy="10972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27048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Real behavior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92808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Sequence / Fallback / Parallel composites, tick engine with SUCCESS / FAILURE / RUNNING and reactive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60904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60904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770632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LLM-as-planner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36392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Pure mode by default + 3 reliability levers; OpenAI &amp; Anthropic providers with automatic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660904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660904"/>
            <a:ext cx="109728" cy="10972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770632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Validator &amp;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136392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20+ typed error classes; deadlock-sound tick simulation feeding structured feedback to the LLM.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04488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04488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014216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79976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Self-contained HTML report — Mermaid behavior-tree view + chronological action-plan timeline.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904488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3904488"/>
            <a:ext cx="109728" cy="10972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014216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Reproducible 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379976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Multi-trial runner: success rate, validity rate, mean±std correction rounds → CSV / Markdown / JSON.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48072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148072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257800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Real-robot seam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BehaviorTree.CPP XML export + ROS execution-backend scaffold for hardware testing.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5148072"/>
            <a:ext cx="5257800" cy="10972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5148072"/>
            <a:ext cx="109728" cy="10972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5257800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Test suite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623560"/>
            <a:ext cx="4800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Deterministic, LLM-free pytest over predicates, domain, BTs, validation, simulation, execution, viz.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WHAT WE DID — WEEK BY WEEK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Progress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691640"/>
            <a:ext cx="30480" cy="4480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6696" y="1737360"/>
            <a:ext cx="384048" cy="384048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737360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640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E86DE"/>
                </a:solidFill>
                <a:latin typeface="Segoe UI"/>
              </a:rPr>
              <a:t>Week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B7486"/>
                </a:solidFill>
                <a:latin typeface="Segoe UI"/>
              </a:rPr>
              <a:t>18 – 25 May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1554480"/>
            <a:ext cx="9509760" cy="1078992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3080" y="1554480"/>
            <a:ext cx="91440" cy="10789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645920"/>
            <a:ext cx="8961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Foundations &amp; scoping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11680"/>
            <a:ext cx="89611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MRBTP paper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Robot platforms studied (Go2, Z1 arm, Franka)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Algorithm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Research plan &amp; proposal (timeline, contributions)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" y="2944368"/>
            <a:ext cx="384048" cy="384048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294436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640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6A085"/>
                </a:solidFill>
                <a:latin typeface="Segoe UI"/>
              </a:rPr>
              <a:t>Week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B7486"/>
                </a:solidFill>
                <a:latin typeface="Segoe UI"/>
              </a:rPr>
              <a:t>26 May – 1 Jun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761488"/>
            <a:ext cx="9509760" cy="1078992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3080" y="2761488"/>
            <a:ext cx="91440" cy="1078992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852928"/>
            <a:ext cx="8961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Setup &amp; 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218688"/>
            <a:ext cx="89611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Research paper template set up (Overleaf)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Baseline code samples — testing existing algorithms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" y="4151376"/>
            <a:ext cx="384048" cy="384048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15137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33088"/>
            <a:ext cx="640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67E22"/>
                </a:solidFill>
                <a:latin typeface="Segoe UI"/>
              </a:rPr>
              <a:t>Week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B7486"/>
                </a:solidFill>
                <a:latin typeface="Segoe UI"/>
              </a:rPr>
              <a:t>2 – 8 Jun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3968496"/>
            <a:ext cx="9509760" cy="1078992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3968496"/>
            <a:ext cx="91440" cy="10789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4059936"/>
            <a:ext cx="8961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Our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425696"/>
            <a:ext cx="89611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New algorithm for multi-robot LLM BT generation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LLM-as-planner core: generate → validate → simulate → self-correct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" y="5358384"/>
            <a:ext cx="384048" cy="38404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535838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40096"/>
            <a:ext cx="640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Week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6B7486"/>
                </a:solidFill>
                <a:latin typeface="Segoe UI"/>
              </a:rPr>
              <a:t>9 – 15 Jun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5175504"/>
            <a:ext cx="9509760" cy="1078992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83080" y="5175504"/>
            <a:ext cx="91440" cy="10789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5266944"/>
            <a:ext cx="8961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Hardening &amp; visualization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632704"/>
            <a:ext cx="89611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Improved generation code (best-of-N, two-stage)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2E"/>
                </a:solidFill>
                <a:latin typeface="Segoe UI"/>
              </a:rPr>
              <a:t>•  Visual BT simulation + HTML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EVALUATION SETUP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Benchmark scenarios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57800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257800" cy="64008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5257800" cy="320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72184"/>
            <a:ext cx="47091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gear_assembly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67128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Segoe UI"/>
              </a:rPr>
              <a:t>3-robot symbolic gear-assembly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47091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go2_z1: opens drawer, stages gear tray &amp; screwdriver, returns tool, closes drawer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franka1: holds and stabilizes the gearbase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franka2: picks/mounts gear, picks screwdriver, fastens the 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257800" cy="2834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17320"/>
            <a:ext cx="5257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37360"/>
            <a:ext cx="5257800" cy="320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472184"/>
            <a:ext cx="47091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sensor_calibration_cell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67128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A085"/>
                </a:solidFill>
                <a:latin typeface="Segoe UI"/>
              </a:rPr>
              <a:t>3-robot, dependency-heavy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60320"/>
            <a:ext cx="47091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More cross-robot synchronization than gear cell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Calibration, inspection, clamp release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41B2E"/>
                </a:solidFill>
                <a:latin typeface="Segoe UI"/>
              </a:rPr>
              <a:t>•  Tool return + drawer closure chains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26280"/>
            <a:ext cx="10607040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A085"/>
                </a:solidFill>
                <a:latin typeface="Segoe UI"/>
              </a:rPr>
              <a:t>Reported per trial, aggregated over scenarios × trials: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Success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3CDDB"/>
                </a:solidFill>
                <a:latin typeface="Segoe UI"/>
              </a:rPr>
              <a:t>goal reached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074920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Validity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3CDDB"/>
                </a:solidFill>
                <a:latin typeface="Segoe UI"/>
              </a:rPr>
              <a:t>plan passes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74920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Correction rounds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3CDDB"/>
                </a:solidFill>
                <a:latin typeface="Segoe UI"/>
              </a:rPr>
              <a:t>mean ± std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074920"/>
            <a:ext cx="2331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Pure vs assisted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3CDDB"/>
                </a:solidFill>
                <a:latin typeface="Segoe UI"/>
              </a:rPr>
              <a:t>ablation delta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82296" cy="475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86DE"/>
                </a:solidFill>
                <a:latin typeface="Segoe UI"/>
              </a:rPr>
              <a:t>WHAT'S NEXT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41B2E"/>
                </a:solidFill>
                <a:latin typeface="Segoe UI"/>
              </a:rPr>
              <a:t>Further plans — writing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36576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486"/>
                </a:solidFill>
                <a:latin typeface="Segoe U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24128"/>
            <a:ext cx="10637215" cy="177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486"/>
                </a:solidFill>
                <a:latin typeface="Segoe UI"/>
              </a:rPr>
              <a:t>The framework is built; the remaining work is the paper itself, section by section: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3493008" cy="1097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3911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67E22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53288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Intro (Problem)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86207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Motivate synchronized multi-robot planning and the LLM-as-planner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83080"/>
            <a:ext cx="3493008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03911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DE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53288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Related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86207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Position vs. MRBTP-style symbolic planners and LLM-for-robotics literature.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8308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83080"/>
            <a:ext cx="3493008" cy="1097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03911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6A085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53288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Background + 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86207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Domain model, behavior trees, world-state semantics, and evaluation setup.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0332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03320"/>
            <a:ext cx="3493008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95935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3A5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445312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Our method /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478231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Self-correction loop, two-stage generation, validator, tick simulator.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70332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703320"/>
            <a:ext cx="3493008" cy="1097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95935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67E22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45312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Experiments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78231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Run pure vs. assisted across scenarios &amp; trials; ablate the reliability levers.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703320"/>
            <a:ext cx="3493008" cy="17373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703320"/>
            <a:ext cx="3493008" cy="1097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3959352"/>
            <a:ext cx="30358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6A085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453128"/>
            <a:ext cx="30358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Results + 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782312"/>
            <a:ext cx="303580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1B2E"/>
                </a:solidFill>
                <a:latin typeface="Segoe UI"/>
              </a:rPr>
              <a:t>Report success / validity / correction metrics; discuss findings and future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86DE"/>
                </a:solidFill>
                <a:latin typeface="Segoe UI"/>
              </a:rPr>
              <a:t>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working LLM-as-planner framework 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now ready for the experimental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D7DEE8"/>
                </a:solidFill>
                <a:latin typeface="Segoe UI"/>
              </a:rPr>
              <a:t>—  LLM infers the entire synchronized multi-robot plan; code only verifies &amp; simulates.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D7DEE8"/>
                </a:solidFill>
                <a:latin typeface="Segoe UI"/>
              </a:rPr>
              <a:t>—  Pure-by-default design keeps the “LLM alone” claim clean; assisted mode is the ablation.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D7DEE8"/>
                </a:solidFill>
                <a:latin typeface="Segoe UI"/>
              </a:rPr>
              <a:t>—  All 8 planned milestones closed in ~4 weeks; prototype grew into a full framework.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D7DEE8"/>
                </a:solidFill>
                <a:latin typeface="Segoe UI"/>
              </a:rPr>
              <a:t>—  Next: run experiments, analyze ablations, and write up the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486"/>
                </a:solidFill>
                <a:latin typeface="Segoe UI"/>
              </a:rPr>
              <a:t>LLM-as-MR-BT-Planner  ·  progress review  ·  17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